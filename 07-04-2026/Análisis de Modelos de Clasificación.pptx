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6858000" cx="12192000"/>
  <p:notesSz cx="6858000" cy="9144000"/>
  <p:embeddedFontLst>
    <p:embeddedFont>
      <p:font typeface="DM Sans Medium"/>
      <p:regular r:id="rId23"/>
      <p:bold r:id="rId24"/>
      <p:italic r:id="rId25"/>
      <p:boldItalic r:id="rId26"/>
    </p:embeddedFont>
    <p:embeddedFont>
      <p:font typeface="DM Sans"/>
      <p:regular r:id="rId27"/>
      <p:bold r:id="rId28"/>
      <p:italic r:id="rId29"/>
      <p:boldItalic r:id="rId30"/>
    </p:embeddedFont>
    <p:embeddedFont>
      <p:font typeface="Merriweather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07BBD94-E1DF-4FAE-B33A-64CE9A5DB999}">
  <a:tblStyle styleId="{F07BBD94-E1DF-4FAE-B33A-64CE9A5DB99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DMSansMedium-bold.fntdata"/><Relationship Id="rId23" Type="http://schemas.openxmlformats.org/officeDocument/2006/relationships/font" Target="fonts/DMSansMedium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DMSansMedium-boldItalic.fntdata"/><Relationship Id="rId25" Type="http://schemas.openxmlformats.org/officeDocument/2006/relationships/font" Target="fonts/DMSansMedium-italic.fntdata"/><Relationship Id="rId28" Type="http://schemas.openxmlformats.org/officeDocument/2006/relationships/font" Target="fonts/DMSans-bold.fntdata"/><Relationship Id="rId27" Type="http://schemas.openxmlformats.org/officeDocument/2006/relationships/font" Target="fonts/DMSans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DMSans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erriweather-regular.fntdata"/><Relationship Id="rId30" Type="http://schemas.openxmlformats.org/officeDocument/2006/relationships/font" Target="fonts/DMSans-boldItalic.fntdata"/><Relationship Id="rId11" Type="http://schemas.openxmlformats.org/officeDocument/2006/relationships/slide" Target="slides/slide5.xml"/><Relationship Id="rId33" Type="http://schemas.openxmlformats.org/officeDocument/2006/relationships/font" Target="fonts/Merriweather-italic.fntdata"/><Relationship Id="rId10" Type="http://schemas.openxmlformats.org/officeDocument/2006/relationships/slide" Target="slides/slide4.xml"/><Relationship Id="rId32" Type="http://schemas.openxmlformats.org/officeDocument/2006/relationships/font" Target="fonts/Merriweather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font" Target="fonts/Merriweather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ddf869fd07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ddf869fd0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ddf869fd07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ddf869fd07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ddf869fd07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ddf869fd0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med">
        <p14:prism dir="l"/>
      </p:transition>
    </mc:Choice>
    <mc:Fallback>
      <p:transition spd="med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Relationship Id="rId4" Type="http://schemas.openxmlformats.org/officeDocument/2006/relationships/image" Target="../media/image1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5.png"/><Relationship Id="rId9" Type="http://schemas.openxmlformats.org/officeDocument/2006/relationships/image" Target="../media/image12.png"/><Relationship Id="rId5" Type="http://schemas.openxmlformats.org/officeDocument/2006/relationships/image" Target="../media/image2.png"/><Relationship Id="rId6" Type="http://schemas.openxmlformats.org/officeDocument/2006/relationships/image" Target="../media/image21.png"/><Relationship Id="rId7" Type="http://schemas.openxmlformats.org/officeDocument/2006/relationships/image" Target="../media/image10.png"/><Relationship Id="rId8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5.png"/><Relationship Id="rId9" Type="http://schemas.openxmlformats.org/officeDocument/2006/relationships/image" Target="../media/image8.png"/><Relationship Id="rId5" Type="http://schemas.openxmlformats.org/officeDocument/2006/relationships/image" Target="../media/image2.png"/><Relationship Id="rId6" Type="http://schemas.openxmlformats.org/officeDocument/2006/relationships/image" Target="../media/image21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9.png"/><Relationship Id="rId5" Type="http://schemas.openxmlformats.org/officeDocument/2006/relationships/image" Target="../media/image13.png"/><Relationship Id="rId6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Relationship Id="rId4" Type="http://schemas.openxmlformats.org/officeDocument/2006/relationships/image" Target="../media/image22.png"/><Relationship Id="rId5" Type="http://schemas.openxmlformats.org/officeDocument/2006/relationships/image" Target="../media/image14.png"/><Relationship Id="rId6" Type="http://schemas.openxmlformats.org/officeDocument/2006/relationships/image" Target="../media/image17.png"/><Relationship Id="rId7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Relationship Id="rId4" Type="http://schemas.openxmlformats.org/officeDocument/2006/relationships/image" Target="../media/image18.png"/><Relationship Id="rId5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0" y="-1905000"/>
            <a:ext cx="5715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571500" y="3781425"/>
            <a:ext cx="11049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Guía de Aprendizaje: Taller Analítica - 3° Semestre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562475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Diego Vergara | Carrera: TNS Informática y Data Science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4848225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CFT de Los Ríos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295275" y="1724025"/>
            <a:ext cx="1160145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2E4D"/>
                </a:solidFill>
                <a:latin typeface="Merriweather"/>
                <a:ea typeface="Merriweather"/>
                <a:cs typeface="Merriweather"/>
                <a:sym typeface="Merriweather"/>
              </a:rPr>
              <a:t>Análisis de Modelos de Clasificación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/>
          <p:nvPr/>
        </p:nvSpPr>
        <p:spPr>
          <a:xfrm>
            <a:off x="5619750" y="3119437"/>
            <a:ext cx="9525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3514725" y="3738562"/>
            <a:ext cx="51625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Resolución del error de conversión de tipos en Scikit-Learn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3595687" y="3443287"/>
            <a:ext cx="500062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2E4D"/>
                </a:solidFill>
                <a:latin typeface="Merriweather"/>
                <a:ea typeface="Merriweather"/>
                <a:cs typeface="Merriweather"/>
                <a:sym typeface="Merriweather"/>
              </a:rPr>
              <a:t>I. Diagnóstico Técnico y Preprocesamiento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2" name="Google Shape;10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571500" y="2771775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Problema: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El algoritmo solo procesa números, pero los datos de 'Duración' incluían texto como "40 min".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571500" y="3343275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Solución: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Se aplicó una expresión regular para limpiar la columna y extraer solo el valor numérico (float).</a:t>
            </a:r>
            <a:endParaRPr/>
          </a:p>
        </p:txBody>
      </p:sp>
      <p:pic>
        <p:nvPicPr>
          <p:cNvPr descr="image.png" id="106" name="Google Shape;10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105275"/>
            <a:ext cx="495300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762000" y="1895475"/>
            <a:ext cx="50006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2E4D"/>
                </a:solidFill>
                <a:latin typeface="Merriweather"/>
                <a:ea typeface="Merriweather"/>
                <a:cs typeface="Merriweather"/>
                <a:sym typeface="Merriweather"/>
              </a:rPr>
              <a:t>Desafío: ValueError</a:t>
            </a:r>
            <a:endParaRPr/>
          </a:p>
        </p:txBody>
      </p:sp>
      <p:sp>
        <p:nvSpPr>
          <p:cNvPr id="108" name="Google Shape;108;p15"/>
          <p:cNvSpPr/>
          <p:nvPr/>
        </p:nvSpPr>
        <p:spPr>
          <a:xfrm>
            <a:off x="571500" y="1895475"/>
            <a:ext cx="57150" cy="4953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81287"/>
            <a:ext cx="3524250" cy="2371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2681287"/>
            <a:ext cx="3524250" cy="2371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6250" y="2681287"/>
            <a:ext cx="3524250" cy="2371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976562"/>
            <a:ext cx="29337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/>
        </p:nvSpPr>
        <p:spPr>
          <a:xfrm>
            <a:off x="866775" y="3900487"/>
            <a:ext cx="29337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Categorización de datos en grupos definidos (ej: Película vs Serie).</a:t>
            </a:r>
            <a:endParaRPr/>
          </a:p>
        </p:txBody>
      </p:sp>
      <p:pic>
        <p:nvPicPr>
          <p:cNvPr descr="image.png" id="119" name="Google Shape;119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29150" y="2976562"/>
            <a:ext cx="29337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4629150" y="3900487"/>
            <a:ext cx="29337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El punto de partida de la decisión basado en la variable más importante.</a:t>
            </a:r>
            <a:endParaRPr/>
          </a:p>
        </p:txBody>
      </p:sp>
      <p:pic>
        <p:nvPicPr>
          <p:cNvPr descr="image.png" id="121" name="Google Shape;121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91525" y="2976562"/>
            <a:ext cx="29337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8391525" y="3900487"/>
            <a:ext cx="29337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Cálculo de la "impureza" de un nodo. El objetivo es llegar a 0.0.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2E4D"/>
                </a:solidFill>
                <a:latin typeface="Merriweather"/>
                <a:ea typeface="Merriweather"/>
                <a:cs typeface="Merriweather"/>
                <a:sym typeface="Merriweather"/>
              </a:rPr>
              <a:t>Glosario de Términos (I)</a:t>
            </a:r>
            <a:endParaRPr/>
          </a:p>
        </p:txBody>
      </p:sp>
      <p:sp>
        <p:nvSpPr>
          <p:cNvPr id="124" name="Google Shape;124;p16"/>
          <p:cNvSpPr/>
          <p:nvPr/>
        </p:nvSpPr>
        <p:spPr>
          <a:xfrm>
            <a:off x="571500" y="571500"/>
            <a:ext cx="57150" cy="4953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 txBox="1"/>
          <p:nvPr/>
        </p:nvSpPr>
        <p:spPr>
          <a:xfrm>
            <a:off x="866775" y="3462337"/>
            <a:ext cx="308038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2E4D"/>
                </a:solidFill>
                <a:latin typeface="Merriweather"/>
                <a:ea typeface="Merriweather"/>
                <a:cs typeface="Merriweather"/>
                <a:sym typeface="Merriweather"/>
              </a:rPr>
              <a:t>Clasificación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4629150" y="3462337"/>
            <a:ext cx="308038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2E4D"/>
                </a:solidFill>
                <a:latin typeface="Merriweather"/>
                <a:ea typeface="Merriweather"/>
                <a:cs typeface="Merriweather"/>
                <a:sym typeface="Merriweather"/>
              </a:rPr>
              <a:t>Nodo Raíz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8391525" y="3462337"/>
            <a:ext cx="308038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2E4D"/>
                </a:solidFill>
                <a:latin typeface="Merriweather"/>
                <a:ea typeface="Merriweather"/>
                <a:cs typeface="Merriweather"/>
                <a:sym typeface="Merriweather"/>
              </a:rPr>
              <a:t>Índice de Gini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2" name="Google Shape;13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81287"/>
            <a:ext cx="3524250" cy="2371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2681287"/>
            <a:ext cx="3524250" cy="2371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6250" y="2681287"/>
            <a:ext cx="3524250" cy="2371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976562"/>
            <a:ext cx="29337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 txBox="1"/>
          <p:nvPr/>
        </p:nvSpPr>
        <p:spPr>
          <a:xfrm>
            <a:off x="866775" y="3900487"/>
            <a:ext cx="29337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Las variables o "features" que el modelo usa para aprender (ej: Año).</a:t>
            </a:r>
            <a:endParaRPr/>
          </a:p>
        </p:txBody>
      </p:sp>
      <p:pic>
        <p:nvPicPr>
          <p:cNvPr descr="image.png" id="138" name="Google Shape;138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29150" y="2976562"/>
            <a:ext cx="29337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/>
        </p:nvSpPr>
        <p:spPr>
          <a:xfrm>
            <a:off x="4629150" y="3900487"/>
            <a:ext cx="29337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Cuando el modelo se "memoriza" los datos y no sabe predecir nuevos casos.</a:t>
            </a:r>
            <a:endParaRPr/>
          </a:p>
        </p:txBody>
      </p:sp>
      <p:pic>
        <p:nvPicPr>
          <p:cNvPr descr="image.png" id="140" name="Google Shape;140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91525" y="2976562"/>
            <a:ext cx="29337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8391525" y="3900487"/>
            <a:ext cx="29337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Reducción del tamaño del árbol para evitar el sobreajuste y mejorar precisión.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2E4D"/>
                </a:solidFill>
                <a:latin typeface="Merriweather"/>
                <a:ea typeface="Merriweather"/>
                <a:cs typeface="Merriweather"/>
                <a:sym typeface="Merriweather"/>
              </a:rPr>
              <a:t>Glosario de Términos (II)</a:t>
            </a:r>
            <a:endParaRPr/>
          </a:p>
        </p:txBody>
      </p:sp>
      <p:sp>
        <p:nvSpPr>
          <p:cNvPr id="143" name="Google Shape;143;p17"/>
          <p:cNvSpPr/>
          <p:nvPr/>
        </p:nvSpPr>
        <p:spPr>
          <a:xfrm>
            <a:off x="571500" y="571500"/>
            <a:ext cx="57150" cy="4953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 txBox="1"/>
          <p:nvPr/>
        </p:nvSpPr>
        <p:spPr>
          <a:xfrm>
            <a:off x="866775" y="3462337"/>
            <a:ext cx="308038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2E4D"/>
                </a:solidFill>
                <a:latin typeface="Merriweather"/>
                <a:ea typeface="Merriweather"/>
                <a:cs typeface="Merriweather"/>
                <a:sym typeface="Merriweather"/>
              </a:rPr>
              <a:t>Características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4629150" y="3462337"/>
            <a:ext cx="308038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2E4D"/>
                </a:solidFill>
                <a:latin typeface="Merriweather"/>
                <a:ea typeface="Merriweather"/>
                <a:cs typeface="Merriweather"/>
                <a:sym typeface="Merriweather"/>
              </a:rPr>
              <a:t>Overfitting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8391525" y="3462337"/>
            <a:ext cx="308038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2E4D"/>
                </a:solidFill>
                <a:latin typeface="Merriweather"/>
                <a:ea typeface="Merriweather"/>
                <a:cs typeface="Merriweather"/>
                <a:sym typeface="Merriweather"/>
              </a:rPr>
              <a:t>Poda (Pruning)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1" name="Google Shape;15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8"/>
          <p:cNvSpPr/>
          <p:nvPr/>
        </p:nvSpPr>
        <p:spPr>
          <a:xfrm>
            <a:off x="5619750" y="3119437"/>
            <a:ext cx="9525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 txBox="1"/>
          <p:nvPr/>
        </p:nvSpPr>
        <p:spPr>
          <a:xfrm>
            <a:off x="3429000" y="3738562"/>
            <a:ext cx="5334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Diferenciando Películas de Series mediante Machine Learning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4030741" y="3443287"/>
            <a:ext cx="413051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2E4D"/>
                </a:solidFill>
                <a:latin typeface="Merriweather"/>
                <a:ea typeface="Merriweather"/>
                <a:cs typeface="Merriweather"/>
                <a:sym typeface="Merriweather"/>
              </a:rPr>
              <a:t>II. Análisis: Caso de Estudio Netflix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9" name="Google Shape;15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962150"/>
            <a:ext cx="5334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6025" y="1971675"/>
            <a:ext cx="531495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>
            <a:off x="952500" y="1962150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Nodo Raíz: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Se usó la variable "Duración" con un corte en 10.5.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952500" y="2724150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Diferenciador: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Las series (≤10.5 temporadas) vs Películas (&gt;10.5 minutos).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952500" y="3486150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Predicción: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Una película de 1980 se iría por la izquierda del árbol al ser menor que el corte de año (2017.5).</a:t>
            </a:r>
            <a:endParaRPr/>
          </a:p>
        </p:txBody>
      </p:sp>
      <p:pic>
        <p:nvPicPr>
          <p:cNvPr descr="image.png" id="165" name="Google Shape;165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0002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7622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524250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9"/>
          <p:cNvSpPr txBox="1"/>
          <p:nvPr/>
        </p:nvSpPr>
        <p:spPr>
          <a:xfrm>
            <a:off x="762000" y="571500"/>
            <a:ext cx="114015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2E4D"/>
                </a:solidFill>
                <a:latin typeface="Merriweather"/>
                <a:ea typeface="Merriweather"/>
                <a:cs typeface="Merriweather"/>
                <a:sym typeface="Merriweather"/>
              </a:rPr>
              <a:t>Lógica de Clasificación</a:t>
            </a:r>
            <a:endParaRPr/>
          </a:p>
        </p:txBody>
      </p:sp>
      <p:sp>
        <p:nvSpPr>
          <p:cNvPr id="169" name="Google Shape;169;p19"/>
          <p:cNvSpPr/>
          <p:nvPr/>
        </p:nvSpPr>
        <p:spPr>
          <a:xfrm>
            <a:off x="571500" y="571500"/>
            <a:ext cx="57300" cy="4953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0" title="arbol_x_durac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3000" y="152400"/>
            <a:ext cx="8917839" cy="6553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21" title="arbol_x_añ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2150" y="152400"/>
            <a:ext cx="9548719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4" name="Google Shape;18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2"/>
          <p:cNvSpPr txBox="1"/>
          <p:nvPr/>
        </p:nvSpPr>
        <p:spPr>
          <a:xfrm>
            <a:off x="571500" y="2976562"/>
            <a:ext cx="53340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100%</a:t>
            </a:r>
            <a:endParaRPr/>
          </a:p>
        </p:txBody>
      </p:sp>
      <p:sp>
        <p:nvSpPr>
          <p:cNvPr id="186" name="Google Shape;186;p22"/>
          <p:cNvSpPr txBox="1"/>
          <p:nvPr/>
        </p:nvSpPr>
        <p:spPr>
          <a:xfrm>
            <a:off x="571500" y="4462462"/>
            <a:ext cx="53340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Lógica Matemática</a:t>
            </a:r>
            <a:endParaRPr/>
          </a:p>
        </p:txBody>
      </p:sp>
      <p:sp>
        <p:nvSpPr>
          <p:cNvPr id="187" name="Google Shape;187;p22"/>
          <p:cNvSpPr txBox="1"/>
          <p:nvPr/>
        </p:nvSpPr>
        <p:spPr>
          <a:xfrm>
            <a:off x="6286500" y="3405187"/>
            <a:ext cx="533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Los algoritmos son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matemáticos puros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 No entienden semántica, sino magnitudes. Convertir "Movie" a 0 y "TV Show" a 1 permite calcular la impureza (Gini) y los cortes estadísticos necesarios para la división del árbol.</a:t>
            </a:r>
            <a:endParaRPr/>
          </a:p>
        </p:txBody>
      </p:sp>
      <p:sp>
        <p:nvSpPr>
          <p:cNvPr id="188" name="Google Shape;188;p22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2E4D"/>
                </a:solidFill>
                <a:latin typeface="Merriweather"/>
                <a:ea typeface="Merriweather"/>
                <a:cs typeface="Merriweather"/>
                <a:sym typeface="Merriweather"/>
              </a:rPr>
              <a:t>Reflexión: ¿Por qué números?</a:t>
            </a:r>
            <a:endParaRPr/>
          </a:p>
        </p:txBody>
      </p:sp>
      <p:sp>
        <p:nvSpPr>
          <p:cNvPr id="189" name="Google Shape;189;p22"/>
          <p:cNvSpPr/>
          <p:nvPr/>
        </p:nvSpPr>
        <p:spPr>
          <a:xfrm>
            <a:off x="571500" y="571500"/>
            <a:ext cx="57150" cy="4953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2"/>
          <p:cNvSpPr txBox="1"/>
          <p:nvPr/>
        </p:nvSpPr>
        <p:spPr>
          <a:xfrm>
            <a:off x="6286500" y="3186112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2E4D"/>
                </a:solidFill>
                <a:latin typeface="Merriweather"/>
                <a:ea typeface="Merriweather"/>
                <a:cs typeface="Merriweather"/>
                <a:sym typeface="Merriweather"/>
              </a:rPr>
              <a:t>Transformación de Texto a Número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5" name="Google Shape;19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3"/>
          <p:cNvSpPr/>
          <p:nvPr/>
        </p:nvSpPr>
        <p:spPr>
          <a:xfrm>
            <a:off x="5619750" y="3119437"/>
            <a:ext cx="9525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3"/>
          <p:cNvSpPr txBox="1"/>
          <p:nvPr/>
        </p:nvSpPr>
        <p:spPr>
          <a:xfrm>
            <a:off x="3662362" y="3738562"/>
            <a:ext cx="48672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Modelo de Pago de Suscripción y Retención de Clientes</a:t>
            </a:r>
            <a:endParaRPr/>
          </a:p>
        </p:txBody>
      </p:sp>
      <p:sp>
        <p:nvSpPr>
          <p:cNvPr id="198" name="Google Shape;198;p23"/>
          <p:cNvSpPr txBox="1"/>
          <p:nvPr/>
        </p:nvSpPr>
        <p:spPr>
          <a:xfrm>
            <a:off x="4055744" y="3443287"/>
            <a:ext cx="408051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2E4D"/>
                </a:solidFill>
                <a:latin typeface="Merriweather"/>
                <a:ea typeface="Merriweather"/>
                <a:cs typeface="Merriweather"/>
                <a:sym typeface="Merriweather"/>
              </a:rPr>
              <a:t>III. Predicción de Comportamiento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24" title="arbol_x_pa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87200" cy="62161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8" name="Google Shape;20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5"/>
          <p:cNvSpPr txBox="1"/>
          <p:nvPr/>
        </p:nvSpPr>
        <p:spPr>
          <a:xfrm>
            <a:off x="952500" y="2914650"/>
            <a:ext cx="10668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Variable Crítica: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El </a:t>
            </a:r>
            <a:r>
              <a:rPr b="0" i="1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Pago Automático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es el factor determinante. Si está activo, el Gini es 0.0 (Pureza Total).</a:t>
            </a:r>
            <a:endParaRPr/>
          </a:p>
        </p:txBody>
      </p:sp>
      <p:sp>
        <p:nvSpPr>
          <p:cNvPr id="210" name="Google Shape;210;p25"/>
          <p:cNvSpPr txBox="1"/>
          <p:nvPr/>
        </p:nvSpPr>
        <p:spPr>
          <a:xfrm>
            <a:off x="952500" y="3390900"/>
            <a:ext cx="10668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Engagement: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Si no hay pago automático, se evalúan las "Horas Vistas al Mes" (Umbral de 20.5 horas).</a:t>
            </a:r>
            <a:endParaRPr/>
          </a:p>
        </p:txBody>
      </p:sp>
      <p:sp>
        <p:nvSpPr>
          <p:cNvPr id="211" name="Google Shape;211;p25"/>
          <p:cNvSpPr txBox="1"/>
          <p:nvPr/>
        </p:nvSpPr>
        <p:spPr>
          <a:xfrm>
            <a:off x="952500" y="3867150"/>
            <a:ext cx="10668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Recencia: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Los días desde el último login (≤ 9.5) ayudan a filtrar clientes con riesgo de impago o abandono.</a:t>
            </a:r>
            <a:endParaRPr/>
          </a:p>
        </p:txBody>
      </p:sp>
      <p:sp>
        <p:nvSpPr>
          <p:cNvPr id="212" name="Google Shape;212;p25"/>
          <p:cNvSpPr txBox="1"/>
          <p:nvPr/>
        </p:nvSpPr>
        <p:spPr>
          <a:xfrm>
            <a:off x="952500" y="4343400"/>
            <a:ext cx="10668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Resultado: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El modelo permite predecir con alta certeza la categoría "Si Paga" o "No Paga".</a:t>
            </a:r>
            <a:endParaRPr/>
          </a:p>
        </p:txBody>
      </p:sp>
      <p:pic>
        <p:nvPicPr>
          <p:cNvPr descr="image.png" id="213" name="Google Shape;213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52750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4290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905250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381500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5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2E4D"/>
                </a:solidFill>
                <a:latin typeface="Merriweather"/>
                <a:ea typeface="Merriweather"/>
                <a:cs typeface="Merriweather"/>
                <a:sym typeface="Merriweather"/>
              </a:rPr>
              <a:t>Predicción de Pago de Clientes</a:t>
            </a:r>
            <a:endParaRPr/>
          </a:p>
        </p:txBody>
      </p:sp>
      <p:sp>
        <p:nvSpPr>
          <p:cNvPr id="218" name="Google Shape;218;p25"/>
          <p:cNvSpPr/>
          <p:nvPr/>
        </p:nvSpPr>
        <p:spPr>
          <a:xfrm>
            <a:off x="571500" y="571500"/>
            <a:ext cx="57150" cy="4953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3" name="Google Shape;22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4" name="Google Shape;224;p26"/>
          <p:cNvGraphicFramePr/>
          <p:nvPr/>
        </p:nvGraphicFramePr>
        <p:xfrm>
          <a:off x="571500" y="27289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{F07BBD94-E1DF-4FAE-B33A-64CE9A5DB999}</a:tableStyleId>
              </a:tblPr>
              <a:tblGrid>
                <a:gridCol w="2786650"/>
                <a:gridCol w="4747175"/>
                <a:gridCol w="3515175"/>
              </a:tblGrid>
              <a:tr h="49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Categoría de Variable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Ejemplos de Características (Features)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Impacto en Predicción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</a:tr>
              <a:tr h="49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Comportamiento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Frecuencia de uso, recencia, tiempo total.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Alto (Indica compromiso)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Pagos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Método de pago, historial de morosidad.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Crítico (Factibilidad de cobro)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Experiencia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Errores técnicos, soporte al cliente.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Medio (Satisfacción)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Perfil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Antigüedad del cliente, dispositivos.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Bajo (Segmentación)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5" name="Google Shape;225;p26"/>
          <p:cNvSpPr/>
          <p:nvPr/>
        </p:nvSpPr>
        <p:spPr>
          <a:xfrm>
            <a:off x="571500" y="3695700"/>
            <a:ext cx="27866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6"/>
          <p:cNvSpPr/>
          <p:nvPr/>
        </p:nvSpPr>
        <p:spPr>
          <a:xfrm>
            <a:off x="3358157" y="3695700"/>
            <a:ext cx="47471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6"/>
          <p:cNvSpPr/>
          <p:nvPr/>
        </p:nvSpPr>
        <p:spPr>
          <a:xfrm>
            <a:off x="8105328" y="3695700"/>
            <a:ext cx="351517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6"/>
          <p:cNvSpPr/>
          <p:nvPr/>
        </p:nvSpPr>
        <p:spPr>
          <a:xfrm>
            <a:off x="571500" y="4191000"/>
            <a:ext cx="27866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6"/>
          <p:cNvSpPr/>
          <p:nvPr/>
        </p:nvSpPr>
        <p:spPr>
          <a:xfrm>
            <a:off x="3358157" y="4191000"/>
            <a:ext cx="47471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6"/>
          <p:cNvSpPr/>
          <p:nvPr/>
        </p:nvSpPr>
        <p:spPr>
          <a:xfrm>
            <a:off x="8105328" y="4191000"/>
            <a:ext cx="351517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6"/>
          <p:cNvSpPr/>
          <p:nvPr/>
        </p:nvSpPr>
        <p:spPr>
          <a:xfrm>
            <a:off x="571500" y="4686300"/>
            <a:ext cx="27866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6"/>
          <p:cNvSpPr/>
          <p:nvPr/>
        </p:nvSpPr>
        <p:spPr>
          <a:xfrm>
            <a:off x="3358157" y="4686300"/>
            <a:ext cx="47471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6"/>
          <p:cNvSpPr/>
          <p:nvPr/>
        </p:nvSpPr>
        <p:spPr>
          <a:xfrm>
            <a:off x="8105328" y="4686300"/>
            <a:ext cx="351517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6"/>
          <p:cNvSpPr/>
          <p:nvPr/>
        </p:nvSpPr>
        <p:spPr>
          <a:xfrm>
            <a:off x="571500" y="5181600"/>
            <a:ext cx="27866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6"/>
          <p:cNvSpPr/>
          <p:nvPr/>
        </p:nvSpPr>
        <p:spPr>
          <a:xfrm>
            <a:off x="3358157" y="5181600"/>
            <a:ext cx="47471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6"/>
          <p:cNvSpPr/>
          <p:nvPr/>
        </p:nvSpPr>
        <p:spPr>
          <a:xfrm>
            <a:off x="8105328" y="5181600"/>
            <a:ext cx="351517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6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2E4D"/>
                </a:solidFill>
                <a:latin typeface="Merriweather"/>
                <a:ea typeface="Merriweather"/>
                <a:cs typeface="Merriweather"/>
                <a:sym typeface="Merriweather"/>
              </a:rPr>
              <a:t>Contexto Real: Variables de Churn</a:t>
            </a:r>
            <a:endParaRPr/>
          </a:p>
        </p:txBody>
      </p:sp>
      <p:sp>
        <p:nvSpPr>
          <p:cNvPr id="238" name="Google Shape;238;p26"/>
          <p:cNvSpPr/>
          <p:nvPr/>
        </p:nvSpPr>
        <p:spPr>
          <a:xfrm>
            <a:off x="571500" y="571500"/>
            <a:ext cx="57150" cy="4953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3" name="Google Shape;24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7"/>
          <p:cNvSpPr txBox="1"/>
          <p:nvPr/>
        </p:nvSpPr>
        <p:spPr>
          <a:xfrm>
            <a:off x="3514725" y="2690812"/>
            <a:ext cx="51625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Análisis de Árboles de Decisión Finalizado</a:t>
            </a:r>
            <a:endParaRPr/>
          </a:p>
        </p:txBody>
      </p:sp>
      <p:sp>
        <p:nvSpPr>
          <p:cNvPr id="245" name="Google Shape;245;p27"/>
          <p:cNvSpPr/>
          <p:nvPr/>
        </p:nvSpPr>
        <p:spPr>
          <a:xfrm>
            <a:off x="5619750" y="3376612"/>
            <a:ext cx="9525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7"/>
          <p:cNvSpPr txBox="1"/>
          <p:nvPr/>
        </p:nvSpPr>
        <p:spPr>
          <a:xfrm>
            <a:off x="4610100" y="4081462"/>
            <a:ext cx="29718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Diego Vergara | CFT de Los Ríos</a:t>
            </a:r>
            <a:endParaRPr/>
          </a:p>
        </p:txBody>
      </p:sp>
      <p:sp>
        <p:nvSpPr>
          <p:cNvPr id="247" name="Google Shape;247;p27"/>
          <p:cNvSpPr txBox="1"/>
          <p:nvPr/>
        </p:nvSpPr>
        <p:spPr>
          <a:xfrm>
            <a:off x="4610100" y="4367212"/>
            <a:ext cx="29718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Módulo: Taller Analítica - Unidad 2</a:t>
            </a:r>
            <a:endParaRPr/>
          </a:p>
        </p:txBody>
      </p:sp>
      <p:sp>
        <p:nvSpPr>
          <p:cNvPr id="248" name="Google Shape;248;p27"/>
          <p:cNvSpPr txBox="1"/>
          <p:nvPr/>
        </p:nvSpPr>
        <p:spPr>
          <a:xfrm>
            <a:off x="4885848" y="2205037"/>
            <a:ext cx="242030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2E4D"/>
                </a:solidFill>
                <a:latin typeface="Merriweather"/>
                <a:ea typeface="Merriweather"/>
                <a:cs typeface="Merriweather"/>
                <a:sym typeface="Merriweather"/>
              </a:rPr>
              <a:t>¿Preguntas o Dudas?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3" name="Google Shape;25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8"/>
          <p:cNvSpPr/>
          <p:nvPr/>
        </p:nvSpPr>
        <p:spPr>
          <a:xfrm>
            <a:off x="571500" y="3014662"/>
            <a:ext cx="110490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8"/>
          <p:cNvSpPr/>
          <p:nvPr/>
        </p:nvSpPr>
        <p:spPr>
          <a:xfrm>
            <a:off x="571500" y="39481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8"/>
          <p:cNvSpPr/>
          <p:nvPr/>
        </p:nvSpPr>
        <p:spPr>
          <a:xfrm>
            <a:off x="571500" y="39481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7" name="Google Shape;257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2432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8"/>
          <p:cNvSpPr txBox="1"/>
          <p:nvPr/>
        </p:nvSpPr>
        <p:spPr>
          <a:xfrm>
            <a:off x="1666875" y="3157537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https://i.ytimg.com/vi/S5xvSTKKC08/hq720.jpg?sqp=-oaymwE7CK4FEIIDSFryq4qpAy0IARUAAAAAGAElAADIQj0AgKJD8AEB-AH-CYAC0AWKAgwIABABGE4gWihlMA8=&amp;rs=AOn4CLA_BYzt0TsyaH402aDCViuqof6U0w</a:t>
            </a:r>
            <a:endParaRPr/>
          </a:p>
        </p:txBody>
      </p:sp>
      <p:sp>
        <p:nvSpPr>
          <p:cNvPr id="259" name="Google Shape;259;p28"/>
          <p:cNvSpPr txBox="1"/>
          <p:nvPr/>
        </p:nvSpPr>
        <p:spPr>
          <a:xfrm>
            <a:off x="1666875" y="3576637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www.youtube.com</a:t>
            </a:r>
            <a:endParaRPr/>
          </a:p>
        </p:txBody>
      </p:sp>
      <p:pic>
        <p:nvPicPr>
          <p:cNvPr descr="image.png" id="260" name="Google Shape;260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1005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8"/>
          <p:cNvSpPr txBox="1"/>
          <p:nvPr/>
        </p:nvSpPr>
        <p:spPr>
          <a:xfrm>
            <a:off x="1666875" y="4107656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https://images.ctfassets.net/y2ske730sjqp/5QQ9SVIdc1tmkqrtFnG9U1/de758bba0f65dcc1c6bc1f31f161003d/BrandAssets_Logos_02-NSymbol.jpg?w=940</a:t>
            </a:r>
            <a:endParaRPr/>
          </a:p>
        </p:txBody>
      </p:sp>
      <p:sp>
        <p:nvSpPr>
          <p:cNvPr id="262" name="Google Shape;262;p28"/>
          <p:cNvSpPr txBox="1"/>
          <p:nvPr/>
        </p:nvSpPr>
        <p:spPr>
          <a:xfrm>
            <a:off x="1666875" y="4341018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brand.netflix.com</a:t>
            </a:r>
            <a:endParaRPr/>
          </a:p>
        </p:txBody>
      </p:sp>
      <p:sp>
        <p:nvSpPr>
          <p:cNvPr id="263" name="Google Shape;263;p28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2E4D"/>
                </a:solidFill>
                <a:latin typeface="Merriweather"/>
                <a:ea typeface="Merriweather"/>
                <a:cs typeface="Merriweather"/>
                <a:sym typeface="Merriweather"/>
              </a:rPr>
              <a:t>Image Sources</a:t>
            </a:r>
            <a:endParaRPr/>
          </a:p>
        </p:txBody>
      </p:sp>
      <p:sp>
        <p:nvSpPr>
          <p:cNvPr id="264" name="Google Shape;264;p28"/>
          <p:cNvSpPr/>
          <p:nvPr/>
        </p:nvSpPr>
        <p:spPr>
          <a:xfrm>
            <a:off x="571500" y="571500"/>
            <a:ext cx="57150" cy="4953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